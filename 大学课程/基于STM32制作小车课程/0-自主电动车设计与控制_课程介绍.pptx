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12119" y="180000"/>
            <a:ext cx="2520000" cy="2520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76119" y="143999"/>
            <a:ext cx="1152000" cy="1152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52000" y="5346000"/>
            <a:ext cx="1584000" cy="1584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540000"/>
            <a:ext cx="1584000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COURSE INTRODUCTION  /  课程介绍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900000"/>
            <a:ext cx="10800000" cy="1800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7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自主电动车</a:t>
            </a:r>
          </a:p>
          <a:p>
            <a:pPr>
              <a:spcBef>
                <a:spcPts val="200"/>
              </a:spcBef>
            </a:pPr>
            <a:r>
              <a:rPr sz="40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设  计  与  控  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808000"/>
            <a:ext cx="10800000" cy="288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700" b="0" i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—— 嵌入式 + 机械 + 控制算法的工程实践 ——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384000"/>
            <a:ext cx="11328120" cy="79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4000" rIns="324000" tIns="108000" bIns="108000"/>
          <a:lstStyle/>
          <a:p>
            <a:pPr algn="ctr"/>
            <a:r>
              <a:rPr sz="22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从零基础到电赛 H 题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Goal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完成一辆可自动行驶的小车  —  GPIO · 定时器 · IIC/SPI · 串口 · PID · 机械设计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059" y="4428000"/>
            <a:ext cx="3240000" cy="306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 · 嵌入式课程组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6059" y="4428000"/>
            <a:ext cx="3240000" cy="306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 · 电子设计大赛 H 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8059" y="4428000"/>
            <a:ext cx="3240000" cy="306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版本 · 2024 课程讲义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2000" y="5058000"/>
            <a:ext cx="11328119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2000" y="5112000"/>
            <a:ext cx="1132812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EDC · H 题  |  Embedded · Mechanical ·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学习内容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CURRICULUM OVERVIEW · 6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课程学习内容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Curriculum Overview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 2024 H 题 · 共 6 大模块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60000"/>
            <a:ext cx="3656040" cy="230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60000"/>
            <a:ext cx="79200" cy="2304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2040" y="1404000"/>
            <a:ext cx="503999" cy="503999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1422000"/>
            <a:ext cx="2792040" cy="55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GPIO 通用输入输出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1998000"/>
            <a:ext cx="1152000" cy="180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Embedded Dev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2286000"/>
            <a:ext cx="3368039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6000" y="2358000"/>
            <a:ext cx="3368040" cy="5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引脚模式 · HAL 库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LED / 按键控制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3204000"/>
            <a:ext cx="3368040" cy="19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→  </a:t>
            </a:r>
            <a:r>
              <a:rPr sz="1000" b="1" i="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PAGE  01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·  Slide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8040" y="1260000"/>
            <a:ext cx="3656040" cy="230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68040" y="1260000"/>
            <a:ext cx="79200" cy="2304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58079" y="1404000"/>
            <a:ext cx="503999" cy="50399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2040" y="1422000"/>
            <a:ext cx="2792040" cy="55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通信协议 · 串口 USART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2040" y="1998000"/>
            <a:ext cx="1152000" cy="180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Embedded Dev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12040" y="2286000"/>
            <a:ext cx="3368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12040" y="2358000"/>
            <a:ext cx="3368040" cy="5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TX / RX · DMA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VOFA+ 实时调参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2040" y="3204000"/>
            <a:ext cx="3368040" cy="19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→  </a:t>
            </a:r>
            <a:r>
              <a:rPr sz="1000" b="1" i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PAGE  02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·  Slide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4080" y="1260000"/>
            <a:ext cx="3656040" cy="230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04080" y="1260000"/>
            <a:ext cx="79200" cy="2304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094120" y="1404000"/>
            <a:ext cx="503999" cy="503999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079" y="1422000"/>
            <a:ext cx="2792040" cy="55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定时器 · PWM / 编码器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8079" y="1998000"/>
            <a:ext cx="1152000" cy="180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Embedded Dev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48079" y="2286000"/>
            <a:ext cx="3368041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48079" y="2358000"/>
            <a:ext cx="3368040" cy="5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PWM · 编码器 4 倍频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电机调速与测速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8079" y="3204000"/>
            <a:ext cx="3368040" cy="19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→  </a:t>
            </a:r>
            <a:r>
              <a:rPr sz="1000" b="1" i="0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PAGE  03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·  Slide 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000" y="3708000"/>
            <a:ext cx="3656040" cy="230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2000" y="3708000"/>
            <a:ext cx="79200" cy="2304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22040" y="3852000"/>
            <a:ext cx="503999" cy="50399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3870000"/>
            <a:ext cx="2792040" cy="55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通信协议 · IIC &amp; SPI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4446000"/>
            <a:ext cx="1152000" cy="180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Embedded Dev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6000" y="4734000"/>
            <a:ext cx="3368039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76000" y="4806000"/>
            <a:ext cx="3368040" cy="5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IIC · SPI 总线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MPU6050 · OLED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00" y="5652000"/>
            <a:ext cx="3368040" cy="19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→  </a:t>
            </a:r>
            <a:r>
              <a:rPr sz="1000" b="1" i="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PAGE  04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·  Slide 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68040" y="3708000"/>
            <a:ext cx="3656040" cy="230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68040" y="3708000"/>
            <a:ext cx="79200" cy="2304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58079" y="3852000"/>
            <a:ext cx="503999" cy="503999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2040" y="3870000"/>
            <a:ext cx="2792040" cy="55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PID 控制算法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2040" y="4446000"/>
            <a:ext cx="1152000" cy="18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Motor Control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12040" y="4734000"/>
            <a:ext cx="3368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412040" y="4806000"/>
            <a:ext cx="3368040" cy="5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速度环 + 位置环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双闭环调参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2040" y="5652000"/>
            <a:ext cx="3368040" cy="19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→  </a:t>
            </a:r>
            <a:r>
              <a:rPr sz="1000" b="1" i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PAGE  05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·  Slide 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4080" y="3708000"/>
            <a:ext cx="3656040" cy="230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04080" y="3708000"/>
            <a:ext cx="79200" cy="2304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094120" y="3852000"/>
            <a:ext cx="503999" cy="503999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8079" y="3870000"/>
            <a:ext cx="2792040" cy="55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机械设计要点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48079" y="4446000"/>
            <a:ext cx="1152000" cy="180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Mechanical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48079" y="4734000"/>
            <a:ext cx="3368041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48079" y="4806000"/>
            <a:ext cx="3368040" cy="5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3D 打印 · 切片参数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紧固件选型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8079" y="5652000"/>
            <a:ext cx="3368040" cy="19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E11D48"/>
                </a:solidFill>
                <a:latin typeface="Consolas"/>
                <a:ea typeface="Consolas"/>
                <a:cs typeface="Consolas"/>
              </a:rPr>
              <a:t>→  </a:t>
            </a:r>
            <a:r>
              <a:rPr sz="1000" b="1" i="0">
                <a:solidFill>
                  <a:srgbClr val="E11D48"/>
                </a:solidFill>
                <a:latin typeface="Consolas"/>
                <a:ea typeface="Consolas"/>
                <a:cs typeface="Consolas"/>
              </a:rPr>
              <a:t>PAGE  06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·  Slide 10</a:t>
            </a:r>
          </a:p>
        </p:txBody>
      </p:sp>
      <p:sp>
        <p:nvSpPr>
          <p:cNvPr id="58" name="Oval 57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电子设计大赛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ELECTRONIC DESIGN CONTEST · About EDC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3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全国大学生电子设计竞赛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Electronic Design Contest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教育部高教司 / 工信部主办 · 中国高教学会权威榜单 · 工科类影响力最大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378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188000"/>
            <a:ext cx="792000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20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赛事简介  </a:t>
            </a:r>
            <a:r>
              <a:rPr sz="12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About EDC · 国内电子信息类顶级学科竞赛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1440000"/>
            <a:ext cx="3906000" cy="24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0000" y="1530000"/>
            <a:ext cx="288000" cy="288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1530000"/>
            <a:ext cx="288000" cy="28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99" y="1530000"/>
            <a:ext cx="3311999" cy="30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5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赛事背景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1944000"/>
            <a:ext cx="3726000" cy="1872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教育部高教司 + 工信部联合主办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全国本科 / 高职在校生同台竞技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列入中国高教学会权威竞赛榜单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6000" y="1440000"/>
            <a:ext cx="3906000" cy="24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4000" y="1530000"/>
            <a:ext cx="288000" cy="288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4000" y="1530000"/>
            <a:ext cx="288000" cy="28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2000" y="1530000"/>
            <a:ext cx="3311999" cy="30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5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赛制形式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4000" y="1944000"/>
            <a:ext cx="3726000" cy="1872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四天三夜 · 限时段 · 现场出题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四人组队 (3 队员 + 1 指导教师)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理论设计 + 实际制作 + 综合测评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960000"/>
            <a:ext cx="3906000" cy="24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0000" y="4050000"/>
            <a:ext cx="288000" cy="288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050000"/>
            <a:ext cx="288000" cy="28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999" y="4050000"/>
            <a:ext cx="3311999" cy="30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5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赛题方向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64000"/>
            <a:ext cx="3726000" cy="1872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电源 · 信号源 · 高频无线电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控制 · 仪器仪表 · 通信传输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2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本课聚焦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控制类 (H 题)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6000" y="3960000"/>
            <a:ext cx="3906000" cy="24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4000" y="4050000"/>
            <a:ext cx="288000" cy="288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4000" y="4050000"/>
            <a:ext cx="288000" cy="28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2000" y="4050000"/>
            <a:ext cx="3311999" cy="30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5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奖项设置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Awards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4000" y="4464000"/>
            <a:ext cx="3726000" cy="1872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国家级: 一等奖 / 二等奖 (推荐奖)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省级: 一等奖 / 二等奖 / 三等奖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赛区评审 · 推荐全国奖 · 高校认可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6000" y="1188000"/>
            <a:ext cx="3264120" cy="2519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/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2024 战绩  </a:t>
            </a:r>
            <a:r>
              <a:rPr sz="10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This 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96000" y="1188000"/>
            <a:ext cx="79200" cy="251999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96000" y="1530000"/>
            <a:ext cx="3264120" cy="503999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999" y="1530000"/>
            <a:ext cx="3156120" cy="503999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全校最好成绩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Best in School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96000" y="2124000"/>
            <a:ext cx="326412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49999" y="2178000"/>
            <a:ext cx="234000" cy="234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6000" y="2160000"/>
            <a:ext cx="54000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省一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6000" y="2160000"/>
            <a:ext cx="229212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 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96000" y="2509200"/>
            <a:ext cx="326412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49999" y="2563200"/>
            <a:ext cx="234000" cy="234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6000" y="2545200"/>
            <a:ext cx="54000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省一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6000" y="2545200"/>
            <a:ext cx="229212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96000" y="2894399"/>
            <a:ext cx="326412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49999" y="2948400"/>
            <a:ext cx="234000" cy="23400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6000" y="2930399"/>
            <a:ext cx="54000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省二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6000" y="2930399"/>
            <a:ext cx="229212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电源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96000" y="3279600"/>
            <a:ext cx="326412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549999" y="3333600"/>
            <a:ext cx="234000" cy="23400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6000" y="3315599"/>
            <a:ext cx="54000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省二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6000" y="3315599"/>
            <a:ext cx="229212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96000" y="3664800"/>
            <a:ext cx="326412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549999" y="3718800"/>
            <a:ext cx="234000" cy="2340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6000" y="3700800"/>
            <a:ext cx="54000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6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省三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96000" y="3700800"/>
            <a:ext cx="229212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信号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96000" y="4121999"/>
            <a:ext cx="3264120" cy="270000"/>
          </a:xfrm>
          <a:prstGeom prst="roundRect">
            <a:avLst>
              <a:gd name="adj" fmla="val 40000"/>
            </a:avLst>
          </a:prstGeom>
          <a:solidFill>
            <a:srgbClr val="0F3773"/>
          </a:solidFill>
          <a:ln w="6350">
            <a:solidFill>
              <a:srgbClr val="0F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96000" y="4121999"/>
            <a:ext cx="3264120" cy="270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总计 5 块奖牌  </a:t>
            </a:r>
            <a:r>
              <a:rPr sz="14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 + 2 + 1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96000" y="4482000"/>
            <a:ext cx="3264120" cy="864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99" y="4536000"/>
            <a:ext cx="3120120" cy="18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覆盖赛题</a:t>
            </a: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Topics Covered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67999" y="4733999"/>
            <a:ext cx="600984" cy="151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 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97784" y="4733999"/>
            <a:ext cx="600984" cy="151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27567" y="4733999"/>
            <a:ext cx="600984" cy="151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57352" y="4733999"/>
            <a:ext cx="600984" cy="151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087135" y="4733999"/>
            <a:ext cx="600984" cy="151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96000" y="5011199"/>
            <a:ext cx="3264120" cy="162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000" b="0" i="1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→  详见 Slide 9 (PID 调参)</a:t>
            </a:r>
          </a:p>
        </p:txBody>
      </p:sp>
      <p:sp>
        <p:nvSpPr>
          <p:cNvPr id="65" name="Oval 64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2024 电赛 H 题 · 自动行驶小车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EDC 2024 · PROBLEM H · Autonomous Driving 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6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本课程的学习目标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Course Goal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H 题 · 全部学习内容围绕 H 题展开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68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5508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5184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99" y="2557130"/>
            <a:ext cx="5148000" cy="23377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000" y="6173999"/>
            <a:ext cx="5508000" cy="21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▲ H 题比赛场地示意图  </a:t>
            </a:r>
            <a:r>
              <a:rPr sz="9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Field &amp; 4 Key Points  (A / B / C / 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3999" y="1278000"/>
            <a:ext cx="5676120" cy="30600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五大任务  Five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3999" y="1673999"/>
            <a:ext cx="5676120" cy="37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83999" y="1673999"/>
            <a:ext cx="79200" cy="378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48799" y="1736999"/>
            <a:ext cx="251999" cy="251999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999" y="1709999"/>
            <a:ext cx="5262120" cy="30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→ B 停车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声光 · ≤ 15s · 20分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3999" y="2095199"/>
            <a:ext cx="5676120" cy="37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3999" y="2095199"/>
            <a:ext cx="79200" cy="378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48799" y="2158199"/>
            <a:ext cx="251999" cy="251999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999" y="2131199"/>
            <a:ext cx="5262120" cy="30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→ B → C → D → A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沿半弧 · ≤ 30s · 20分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3999" y="2516399"/>
            <a:ext cx="5676120" cy="37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3999" y="2516399"/>
            <a:ext cx="79200" cy="378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8799" y="2579399"/>
            <a:ext cx="251999" cy="251999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999" y="2552399"/>
            <a:ext cx="5262120" cy="30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→ C → B → D → A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路径变化 · ≤ 40s · 30分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3999" y="2937600"/>
            <a:ext cx="5676120" cy="37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3999" y="2937600"/>
            <a:ext cx="79200" cy="378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48799" y="3000600"/>
            <a:ext cx="251999" cy="251999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999" y="2973600"/>
            <a:ext cx="5262120" cy="30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重复 ③ 4 圈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时间越短越好 · 30分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3999" y="3358799"/>
            <a:ext cx="5676120" cy="37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83999" y="3358799"/>
            <a:ext cx="79200" cy="378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48799" y="3421799"/>
            <a:ext cx="251999" cy="251999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3999" y="3394799"/>
            <a:ext cx="5262120" cy="30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设计报告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工程文档 + 算法 · 20分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3999" y="3816000"/>
            <a:ext cx="5676120" cy="264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83999" y="3816000"/>
            <a:ext cx="79200" cy="2646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999" y="3870000"/>
            <a:ext cx="5388120" cy="198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3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关键约束与说明  </a:t>
            </a: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 Constraints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999" y="4086000"/>
            <a:ext cx="5388120" cy="234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1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小车 ≤ 25×15×15 cm · 轮式 · 禁履带 / 麦克纳姆轮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必须 TI MSPM0 系列 MCU · 只能前进不能后退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过 A/B/C/D 时声光提示 · 启 / 停 / 过点均触发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超时 2 倍以上 · 该项目不得分</a:t>
            </a:r>
          </a:p>
        </p:txBody>
      </p:sp>
      <p:sp>
        <p:nvSpPr>
          <p:cNvPr id="39" name="Oval 38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GPIO 通用输入输出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GPIO  ·  Input /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GPIO 通用输入输出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嵌入式开发 · STM32 HAL 库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GPIO 是 STM32 最基础、最常用的外设, 通过 LED 闪烁与按键检测掌握引脚配置、模式选择、上拉下拉等概念。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5508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5184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" y="2196253"/>
            <a:ext cx="5112000" cy="30594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000" y="6173999"/>
            <a:ext cx="5508000" cy="21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▲ GPIO 通用输入输出  </a:t>
            </a:r>
            <a:r>
              <a:rPr sz="9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GPIO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3999" y="1278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3999" y="1278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999" y="1332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核心知识点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999" y="1565999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八种工作模式: 浮空 / 上拉 / 下拉 / 模拟 / 开漏 / 推挽 / 复用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输出速度: 2 / 10 / 50 MHz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HAL API: WritePin / ReadPin / TogglePin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点亮 LED: 推挽输出, 低电平点亮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按键输入: 上拉输入, 软件消抖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3999" y="3924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3999" y="3924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999" y="3978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在 H 题中的应用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Application in Problem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999" y="4212000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声光模块的 LED 灯提示、蜂鸣器控制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按键启动 / 模式切换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电机使能引脚、电源使能控制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通信协议 · 串口 USART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USART  ·  Serial  ·  Debug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通信协议 · 串口 USART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嵌入式开发 · STM32 HAL 库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串口是嵌入式最常用的调试接口, 也是 MPU6050、OpenMV、无线模块的主要通信方式。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5508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5184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" y="2783307"/>
            <a:ext cx="5112000" cy="18853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000" y="6173999"/>
            <a:ext cx="5508000" cy="21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▲ 通信协议 · 串口 USART  </a:t>
            </a:r>
            <a:r>
              <a:rPr sz="9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USART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3999" y="1278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3999" y="1278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999" y="1332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核心知识点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999" y="1565999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三根线: TX / RX / GND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常用波特率: 9600 / 115200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HAL: Transmit / _IT / _DMA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printf 重定向 (fputc)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 + 空闲中断接收不定长帧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VOFA+ 上位机: 实时曲线调 PID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3999" y="3924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3999" y="3924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999" y="3978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在 H 题中的应用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Application in Problem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999" y="4212000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串口接收 MPU6050 数据, 获取航向角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打印编码器 / 灰度 / PID 状态便于调参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OpenMV 通过串口发送坐标给 STM32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定时器 · Timer / PWM / 编码器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TIMER  ·  PWM  ·  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定时器 · Timer / PWM / 编码器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嵌入式开发 · STM32 HAL 库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通过定时器实现电机调速、车轮测速、呼吸灯等典型应用。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5508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5184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" y="2609393"/>
            <a:ext cx="5112000" cy="22332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000" y="6173999"/>
            <a:ext cx="5508000" cy="21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▲ 定时器 · Timer / PWM / 编码器  </a:t>
            </a:r>
            <a:r>
              <a:rPr sz="9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TIMER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3999" y="1278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3999" y="1278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999" y="1332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核心知识点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999" y="1565999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三类定时器: 高级 / 通用 / 基本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PWM 四要素: PSC / ARR / CCR / CNT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PWM 频率: 15~20 kHz (电机驱动)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编码器模式: 4 倍频 + 方向判别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定时中断: 20~50 ms 读取编码器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HAL: PWM_Start / Encoder_Start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3999" y="3924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3999" y="3924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999" y="3978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在 H 题中的应用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Application in Problem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999" y="4212000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PWM 驱动左右电机, 差速转弯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编码器获取实时轮速 (速度环反馈)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定时中断周期跑控制算法 (PID)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通信协议 · IIC 与 SPI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IIC  &amp;  SPI  ·  Bus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通信协议 · IIC 与 SPI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嵌入式开发 · STM32 HAL 库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 0.96寸 OLED 与 MPU6050 两个经典外设, 学习总线协议原理、CubeMX 配置、I2C 时序及软件模拟方法。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5508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5184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" y="2506331"/>
            <a:ext cx="5112000" cy="2439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000" y="6173999"/>
            <a:ext cx="5508000" cy="21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▲ 通信协议 · IIC 与 SPI  </a:t>
            </a:r>
            <a:r>
              <a:rPr sz="9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IIC  &amp;  SPI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3999" y="1278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3999" y="1278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999" y="1332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核心知识点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999" y="1565999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IIC: SCL + SDA, 主从, 7 位地址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IIC 速率: 100 kHz / 400 kHz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SPI: SCK / MOSI / MISO / CS, 全双工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OLED (SSD1306) 显示小车状态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MPU6050 六轴: 加速度 + 陀螺仪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HAL: I2C_Master_Transmit / Receive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3999" y="3924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3999" y="3924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999" y="3978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在 H 题中的应用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Application in Problem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999" y="4212000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IIC 读取 MPU6050 角度 (方向环反馈)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OLED 实时显示小车状态 / 路径模式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IIC 时序错误需用示波器 / 逻辑分析仪抓波形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PID 控制算法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PID  ·  Speed &amp; Position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PID 控制算法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电机控制 · 工程核心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PID 是工程控制最经典、应用最广的算法。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5508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5184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" y="2321850"/>
            <a:ext cx="5112000" cy="28082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000" y="6173999"/>
            <a:ext cx="5508000" cy="216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▲ PID 控制算法  </a:t>
            </a:r>
            <a:r>
              <a:rPr sz="9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3999" y="1278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3999" y="1278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999" y="1332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核心知识点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999" y="1565999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PID: P(快速) + I(消差) + D(抑振)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位置式: u(k) = Kp·e + Ki·Σe + Kd·Δe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增量式: Δu = Kp·Δe + Ki·e + Kd·ΔΔe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速度环 (内): 目标=期望转速, 输出=PWM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位置环 (外): 目标=路径, 输出=期望速度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调参: 先 P 后 I 再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3999" y="3924000"/>
            <a:ext cx="5676120" cy="253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3999" y="3924000"/>
            <a:ext cx="79200" cy="2538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999" y="3978000"/>
            <a:ext cx="5388120" cy="216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在 H 题中的应用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Application in Problem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999" y="4212000"/>
            <a:ext cx="5388120" cy="221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双轮独立速度环, 精准直行与转弯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灰度 + 方向环, 实时纠正小车偏航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 路灰度入弯判断, 防止漂出圆弧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999" y="162000"/>
            <a:ext cx="54000" cy="306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000" y="125999"/>
            <a:ext cx="7920000" cy="378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26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机械设计要点 · 加工与紧固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468000"/>
            <a:ext cx="8640000" cy="162000"/>
          </a:xfrm>
          <a:prstGeom prst="rect">
            <a:avLst/>
          </a:prstGeom>
          <a:noFill/>
        </p:spPr>
        <p:txBody>
          <a:bodyPr wrap="square" lIns="0" rIns="0" tIns="18000" bIns="18000" anchor="t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MECHANICAL DESIGN  ·  3D Printing &amp; Fastening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2119" y="144000"/>
            <a:ext cx="1152000" cy="34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PAGE  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720000"/>
            <a:ext cx="1132812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251999"/>
          <a:lstStyle/>
          <a:p>
            <a:pPr algn="ctr"/>
            <a:r>
              <a:rPr sz="18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机械设计要点 · 加工与紧固  </a:t>
            </a: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3D 打印 + 紧固件选型</a:t>
            </a:r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    ·    </a:t>
            </a: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车体所有打印件、连接件、固定件均需正确选型与紧固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720000"/>
            <a:ext cx="79200" cy="413999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1278000"/>
            <a:ext cx="3744000" cy="2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1278000"/>
            <a:ext cx="79200" cy="2700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2" y="1403999"/>
            <a:ext cx="2275035" cy="104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00" y="2556000"/>
            <a:ext cx="3456000" cy="251999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加工工艺: 3D 打印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3D Printing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44000"/>
            <a:ext cx="3456000" cy="108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400"/>
              </a:spcBef>
            </a:pPr>
            <a:r>
              <a:rPr sz="11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FDM 熔融沉积 · 适合原型与小批量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常用材料: PLA / ABS / PETG / TPU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关键参数: 层高 0.2mm · 填充 20% · 壁厚 1.2mm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表面优化: Z 起点 / 裙边 / 擦嘴 / Z 缝收缩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2000" y="1278000"/>
            <a:ext cx="3744000" cy="2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2000" y="1278000"/>
            <a:ext cx="79200" cy="2700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595" y="1403999"/>
            <a:ext cx="2334808" cy="104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46000" y="2556000"/>
            <a:ext cx="3456000" cy="251999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4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切片与参数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Slicer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6000" y="2844000"/>
            <a:ext cx="3456000" cy="1080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pPr>
              <a:spcBef>
                <a:spcPts val="400"/>
              </a:spcBef>
            </a:pPr>
            <a:r>
              <a:rPr sz="11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切片软件: Cura / PrusaSlicer / Simplify3D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热端 200°C · 热床 60°C (PLA 通用)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打印速度 60 mm/s · 喷嘴 0.4 mm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车体优先轻量化, 降低电机负载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2000" y="1278000"/>
            <a:ext cx="3588119" cy="306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紧固件选型  </a:t>
            </a:r>
            <a:r>
              <a:rPr sz="10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Fasteners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2000" y="1278000"/>
            <a:ext cx="79200" cy="306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72000" y="1638000"/>
            <a:ext cx="3588119" cy="73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72000" y="1638000"/>
            <a:ext cx="79200" cy="732000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000" y="1947733"/>
            <a:ext cx="552000" cy="11253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03999" y="1710000"/>
            <a:ext cx="2784120" cy="58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5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螺丝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12.9 级 / 304 不锈钢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2000" y="2442000"/>
            <a:ext cx="3588119" cy="73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72000" y="2442000"/>
            <a:ext cx="79200" cy="732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000" y="2733230"/>
            <a:ext cx="552000" cy="1495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03999" y="2514000"/>
            <a:ext cx="2784120" cy="58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500" b="1" i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螺母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细牙 / 反牙 / 自锁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2000" y="3245999"/>
            <a:ext cx="3588119" cy="73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72000" y="3245999"/>
            <a:ext cx="79200" cy="732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000" y="3335999"/>
            <a:ext cx="413999" cy="552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03999" y="3317999"/>
            <a:ext cx="2784120" cy="588000"/>
          </a:xfrm>
          <a:prstGeom prst="rect">
            <a:avLst/>
          </a:prstGeom>
          <a:noFill/>
        </p:spPr>
        <p:txBody>
          <a:bodyPr wrap="square" lIns="54000" rIns="54000" tIns="18000" bIns="18000" anchor="ctr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热熔螺母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嵌入 3D 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000" y="4086000"/>
            <a:ext cx="11328120" cy="233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2000" y="4086000"/>
            <a:ext cx="79200" cy="2339999"/>
          </a:xfrm>
          <a:prstGeom prst="roundRect">
            <a:avLst>
              <a:gd name="adj" fmla="val 50000"/>
            </a:avLst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00" y="4140000"/>
            <a:ext cx="11040120" cy="234000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>
            <a:r>
              <a:rPr sz="1500" b="1" i="0">
                <a:solidFill>
                  <a:srgbClr val="0F3773"/>
                </a:solidFill>
                <a:latin typeface="Microsoft YaHei"/>
                <a:ea typeface="Microsoft YaHei"/>
                <a:cs typeface="Microsoft YaHei"/>
              </a:rPr>
              <a:t>设计 checklist  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Engineering Checklist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4392000"/>
            <a:ext cx="11040120" cy="1979999"/>
          </a:xfrm>
          <a:prstGeom prst="rect">
            <a:avLst/>
          </a:prstGeom>
          <a:noFill/>
        </p:spPr>
        <p:txBody>
          <a:bodyPr wrap="square" lIns="54000" rIns="54000" tIns="18000" bIns="18000" anchor="t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300" b="1" i="0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✓ 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3D 打印件: 壁厚 ≥ 1.2mm · 填充 ≥ 20% · 关键受力处加加强筋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✓ 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螺丝选型: 12.9 级高强度 · 304 不锈钢防锈 · M3 / M2 规格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✓ 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螺母防松: 反牙螺母 / 自锁螺母 / 弹垫 · 振动场景必须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✓   </a:t>
            </a: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热熔螺母: 嵌入 3D 件 · 烙铁加热 · 提升螺纹强度 5 倍以上</a:t>
            </a:r>
          </a:p>
        </p:txBody>
      </p:sp>
      <p:sp>
        <p:nvSpPr>
          <p:cNvPr id="38" name="Oval 37"/>
          <p:cNvSpPr/>
          <p:nvPr/>
        </p:nvSpPr>
        <p:spPr>
          <a:xfrm>
            <a:off x="432000" y="6623999"/>
            <a:ext cx="64800" cy="64800"/>
          </a:xfrm>
          <a:prstGeom prst="ellipse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999" y="6570000"/>
            <a:ext cx="504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r>
              <a:rPr sz="10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自主电动车设计与控制 · 课程介绍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2119" y="6570000"/>
            <a:ext cx="4500000" cy="180000"/>
          </a:xfrm>
          <a:prstGeom prst="rect">
            <a:avLst/>
          </a:prstGeom>
          <a:noFill/>
        </p:spPr>
        <p:txBody>
          <a:bodyPr wrap="square" lIns="0" rIns="0" tIns="18000" bIns="18000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Embedded  ·  Mechanical  · 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